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0" y="731520"/>
            <a:ext cx="1828800" cy="1828800"/>
          </a:xfrm>
          <a:prstGeom prst="ellipse">
            <a:avLst/>
          </a:prstGeom>
          <a:solidFill>
            <a:srgbClr val="1C3350"/>
          </a:solidFill>
          <a:ln>
            <a:solidFill>
              <a:srgbClr val="1C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188720"/>
            <a:ext cx="914400" cy="914400"/>
          </a:xfrm>
          <a:prstGeom prst="ellipse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1463040"/>
            <a:ext cx="365760" cy="365760"/>
          </a:xfrm>
          <a:prstGeom prst="ellipse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4297680"/>
            <a:ext cx="155448" cy="155448"/>
          </a:xfrm>
          <a:prstGeom prst="ellipse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3794760"/>
            <a:ext cx="155448" cy="155448"/>
          </a:xfrm>
          <a:prstGeom prst="ellipse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95560" y="4251960"/>
            <a:ext cx="155448" cy="155448"/>
          </a:xfrm>
          <a:prstGeom prst="ellipse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20" y="3520440"/>
            <a:ext cx="155448" cy="155448"/>
          </a:xfrm>
          <a:prstGeom prst="ellipse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8293608" y="3867912"/>
            <a:ext cx="850392" cy="502920"/>
          </a:xfrm>
          <a:prstGeom prst="line">
            <a:avLst/>
          </a:prstGeom>
          <a:ln w="25400">
            <a:solidFill>
              <a:srgbClr val="5BA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99448" y="3867912"/>
            <a:ext cx="896112" cy="457200"/>
          </a:xfrm>
          <a:prstGeom prst="line">
            <a:avLst/>
          </a:prstGeom>
          <a:ln w="25400">
            <a:solidFill>
              <a:srgbClr val="5BA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51008" y="3593592"/>
            <a:ext cx="667512" cy="731520"/>
          </a:xfrm>
          <a:prstGeom prst="line">
            <a:avLst/>
          </a:prstGeom>
          <a:ln w="25400">
            <a:solidFill>
              <a:srgbClr val="5BA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8" y="1078992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CAEA4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7315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VOYAGE</a:t>
            </a:r>
          </a:p>
          <a:p>
            <a:pPr>
              <a:spcAft>
                <a:spcPts val="5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154680"/>
            <a:ext cx="6583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CDDCEB"/>
                </a:solidFill>
                <a:latin typeface="Aptos"/>
              </a:defRPr>
            </a:pPr>
            <a:r>
              <a:t>Travel Analytics &amp; Recommendation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977639"/>
            <a:ext cx="777240" cy="54864"/>
          </a:xfrm>
          <a:prstGeom prst="rect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2519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Machine Learning  •  Data Insights  •  API  • 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715000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Presented by: Arjya Keshari Biswal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06247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1C2D5"/>
                </a:solidFill>
                <a:latin typeface="Aptos"/>
              </a:defRPr>
            </a:pPr>
            <a:r>
              <a:t>B.Tech Computer Engineering  |  Project Demonstration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C1CFDD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C1CFD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Project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One application combining travel prediction, recommendations, data exploration and API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4864" cy="181051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22402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01  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04288"/>
            <a:ext cx="224027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Estimate a flight price from route, agency, flight type, travel time, distance and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73736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737360"/>
            <a:ext cx="54864" cy="181051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19"/>
            <a:ext cx="22402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02  Recommend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04288"/>
            <a:ext cx="224027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Filter hotel options by destination, stay duration and maximum budget.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737360"/>
            <a:ext cx="54864" cy="1810512"/>
          </a:xfrm>
          <a:prstGeom prst="rect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2402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03  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04288"/>
            <a:ext cx="224027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Inspect Flights, Hotels and Users datasets with summaries and sample records.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73736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39" y="1737360"/>
            <a:ext cx="54864" cy="181051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1874519"/>
            <a:ext cx="22402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04  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304288"/>
            <a:ext cx="224027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Expose prediction through Flask and save history in MySQL when available.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44200" cy="1143000"/>
          </a:xfrm>
          <a:prstGeom prst="roundRect">
            <a:avLst/>
          </a:prstGeom>
          <a:solidFill>
            <a:srgbClr val="E5EFF6"/>
          </a:solidFill>
          <a:ln>
            <a:solidFill>
              <a:srgbClr val="E5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370832"/>
            <a:ext cx="1014984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2223A"/>
                </a:solidFill>
                <a:latin typeface="Aptos"/>
              </a:defRPr>
            </a:pPr>
            <a:r>
              <a:t>An end-to-end data application: from prepared datasets and a trained model to an interactive interface, persistent records and containerized API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Travel decisions involve several information needs that are often handled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4864" cy="1399032"/>
          </a:xfrm>
          <a:prstGeom prst="rect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892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Travellers may need to estimate flight costs, compare hotel options and understand available travel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4864" cy="139903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892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Project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A single application offers flight-price estimation, budget-aware hotel filtering and dataset exploration.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2223A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1042416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 Build a user-friendly interface for core travel analytics tasks.</a:t>
            </a:r>
          </a:p>
          <a:p>
            <a:pPr>
              <a:spcAft>
                <a:spcPts val="5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 Estimate flight prices from user-provided travel details.</a:t>
            </a:r>
          </a:p>
          <a:p>
            <a:pPr>
              <a:spcAft>
                <a:spcPts val="5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 Store prediction and recommendation history in MySQL when available.</a:t>
            </a:r>
          </a:p>
          <a:p>
            <a:pPr>
              <a:spcAft>
                <a:spcPts val="5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 Provide API access and demonstrate Docker/Kubernetes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Core solution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Four connected capabilities form the main user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54864" cy="139903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Flight Price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Travel inputs → model inference → estimated price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54864" cy="139903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Hotel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5856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Destination + nights + budget → matching options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54864" cy="1399032"/>
          </a:xfrm>
          <a:prstGeom prst="rect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Data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33087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Overview → missing-value summary → sample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5661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566160"/>
            <a:ext cx="54864" cy="1399032"/>
          </a:xfrm>
          <a:prstGeom prst="rect">
            <a:avLst/>
          </a:prstGeom>
          <a:solidFill>
            <a:srgbClr val="1C3350"/>
          </a:solidFill>
          <a:ln>
            <a:solidFill>
              <a:srgbClr val="1C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70332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API &amp;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33087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HTTP request → Flask service → model/database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High-level view of how the interface, model, API and database work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54864" cy="914400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93852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2860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37284"/>
                </a:solidFill>
                <a:latin typeface="Aptos"/>
              </a:defRPr>
            </a:pPr>
            <a:r>
              <a:t>Browser / local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828800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240" y="1828800"/>
            <a:ext cx="54864" cy="914400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9544" y="1938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Streamlit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22860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37284"/>
                </a:solidFill>
                <a:latin typeface="Aptos"/>
              </a:defRPr>
            </a:pPr>
            <a:r>
              <a:t>Interactive screens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82880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1828800"/>
            <a:ext cx="54864" cy="914400"/>
          </a:xfrm>
          <a:prstGeom prst="rect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5584" y="1938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Flask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5584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37284"/>
                </a:solidFill>
                <a:latin typeface="Aptos"/>
              </a:defRPr>
            </a:pPr>
            <a:r>
              <a:t>REST endpoints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32588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325880"/>
            <a:ext cx="54864" cy="914400"/>
          </a:xfrm>
          <a:prstGeom prst="rect">
            <a:avLst/>
          </a:prstGeom>
          <a:solidFill>
            <a:srgbClr val="1C3350"/>
          </a:solidFill>
          <a:ln>
            <a:solidFill>
              <a:srgbClr val="1C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143560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ML model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17830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37284"/>
                </a:solidFill>
                <a:latin typeface="Aptos"/>
              </a:defRPr>
            </a:pPr>
            <a:r>
              <a:t>Flight-price inference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274320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743200"/>
            <a:ext cx="54864" cy="914400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28529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MySQL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320040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37284"/>
                </a:solidFill>
                <a:latin typeface="Aptos"/>
              </a:defRPr>
            </a:pPr>
            <a:r>
              <a:t>History and records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3977639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63240" y="3977639"/>
            <a:ext cx="54864" cy="914400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9544" y="40873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CSV / data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9544" y="44348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37284"/>
                </a:solidFill>
                <a:latin typeface="Aptos"/>
              </a:defRPr>
            </a:pPr>
            <a:r>
              <a:t>Local dataset access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06040" y="2286000"/>
            <a:ext cx="457200" cy="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12080" y="2286000"/>
            <a:ext cx="457200" cy="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726679" y="1783080"/>
            <a:ext cx="548641" cy="32004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726679" y="2514600"/>
            <a:ext cx="548641" cy="64008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114800" y="2743200"/>
            <a:ext cx="0" cy="1234439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Docker packages the Flask API; Kubernetes runs two API replicas behind a Service for internal access and local port-forwarded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Each technology supports a specific part of the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4864" cy="144475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Python + Pandas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Data handling and application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645920"/>
            <a:ext cx="54864" cy="144475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8308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Scikit-learn + Joblib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128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Model pipeline and saved artifacts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6459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645920"/>
            <a:ext cx="54864" cy="1444752"/>
          </a:xfrm>
          <a:prstGeom prst="rect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8308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2128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Interactive front-end experience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6616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66160"/>
            <a:ext cx="54864" cy="1444752"/>
          </a:xfrm>
          <a:prstGeom prst="rect">
            <a:avLst/>
          </a:prstGeom>
          <a:solidFill>
            <a:srgbClr val="1C3350"/>
          </a:solidFill>
          <a:ln>
            <a:solidFill>
              <a:srgbClr val="1C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0332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3308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REST API and request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56616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566160"/>
            <a:ext cx="54864" cy="144475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70332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MySQL + SQLAlchemy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13308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Persistent history and database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56616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3566160"/>
            <a:ext cx="54864" cy="144475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70332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Docker + Kubernetes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13308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Container packaging and 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6692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Development tools include Visual Studio Code, Git and GitHub; MySQL can run locally through XAMPP.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Module 1 — Flight price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A trained regression pipeline estimates a price from the supplied travel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2648" y="2075688"/>
            <a:ext cx="292608" cy="292608"/>
          </a:xfrm>
          <a:prstGeom prst="ellipse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116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2223A"/>
                </a:solidFill>
                <a:latin typeface="Aptos"/>
              </a:defRPr>
            </a:pPr>
            <a:r>
              <a:t>Enter details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286000"/>
            <a:ext cx="301752" cy="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8288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44368" y="2075688"/>
            <a:ext cx="292608" cy="292608"/>
          </a:xfrm>
          <a:prstGeom prst="ellipse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7" y="20116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2223A"/>
                </a:solidFill>
                <a:latin typeface="Aptos"/>
              </a:defRPr>
            </a:pPr>
            <a:r>
              <a:t>Validate inputs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2286000"/>
            <a:ext cx="301752" cy="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59" y="18288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76088" y="2075688"/>
            <a:ext cx="292608" cy="292608"/>
          </a:xfrm>
          <a:prstGeom prst="ellipse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8" y="20116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2223A"/>
                </a:solidFill>
                <a:latin typeface="Aptos"/>
              </a:defRPr>
            </a:pPr>
            <a:r>
              <a:t>Run model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19" y="2286000"/>
            <a:ext cx="301752" cy="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79" y="18288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07807" y="2075688"/>
            <a:ext cx="292608" cy="292608"/>
          </a:xfrm>
          <a:prstGeom prst="ellipse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7" y="20116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2223A"/>
                </a:solidFill>
                <a:latin typeface="Aptos"/>
              </a:defRPr>
            </a:pPr>
            <a:r>
              <a:t>Display estimate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64040" y="2286000"/>
            <a:ext cx="301752" cy="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29800" y="18288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39528" y="2075688"/>
            <a:ext cx="292608" cy="292608"/>
          </a:xfrm>
          <a:prstGeom prst="ellipse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05288" y="20116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2223A"/>
                </a:solidFill>
                <a:latin typeface="Aptos"/>
              </a:defRPr>
            </a:pPr>
            <a:r>
              <a:t>Save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2918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23A"/>
                </a:solidFill>
                <a:latin typeface="Aptos"/>
              </a:defRPr>
            </a:pPr>
            <a:r>
              <a:t>Inputs accepted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657600"/>
            <a:ext cx="475488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•  Origin and destination</a:t>
            </a:r>
          </a:p>
          <a:p>
            <a:pPr>
              <a:spcAft>
                <a:spcPts val="5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•  Flight type and agency</a:t>
            </a:r>
          </a:p>
          <a:p>
            <a:pPr>
              <a:spcAft>
                <a:spcPts val="5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•  Travel time and distance</a:t>
            </a:r>
          </a:p>
          <a:p>
            <a:pPr>
              <a:spcAft>
                <a:spcPts val="5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•  Travel 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3383280"/>
            <a:ext cx="5166360" cy="1554480"/>
          </a:xfrm>
          <a:prstGeom prst="roundRect">
            <a:avLst/>
          </a:prstGeom>
          <a:solidFill>
            <a:srgbClr val="DEF6F2"/>
          </a:solidFill>
          <a:ln>
            <a:solidFill>
              <a:srgbClr val="DE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61188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2223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069080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Estimated flight price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+ optional database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Module 2 — Hotel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A filtering workflow narrows options to a destination, stay duration and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4864" cy="13075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Destination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Choose the place for the stay.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373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737360"/>
            <a:ext cx="54864" cy="130759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874519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Length of stay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04288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Specify the number of nights.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7373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737360"/>
            <a:ext cx="54864" cy="1307592"/>
          </a:xfrm>
          <a:prstGeom prst="rect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874519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Maximum 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04288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Set a budget limit.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23160" y="3063240"/>
            <a:ext cx="3154680" cy="59436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3063240"/>
            <a:ext cx="0" cy="59436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675120" y="3063240"/>
            <a:ext cx="3200400" cy="59436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60320" y="3657600"/>
            <a:ext cx="7040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3822191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2223A"/>
                </a:solidFill>
                <a:latin typeface="Aptos"/>
              </a:defRPr>
            </a:pPr>
            <a:r>
              <a:t>Matching hotel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224528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Hotel name  •  daily price  •  estimated total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Recommendation history is stored in MySQL when the database is 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Module 3 —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The interface offers a quick view of three datasets without requiring manual inspection of raw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4864" cy="167335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23A"/>
                </a:solidFill>
                <a:latin typeface="Aptos"/>
              </a:defRPr>
            </a:pPr>
            <a:r>
              <a:t>Flights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95728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Dataset overview, column count, missing-value summary and sample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54864" cy="167335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96596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23A"/>
                </a:solidFill>
                <a:latin typeface="Aptos"/>
              </a:defRPr>
            </a:pPr>
            <a:r>
              <a:t>Hotels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95728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Inspect hotel-related fields and example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54864" cy="1673352"/>
          </a:xfrm>
          <a:prstGeom prst="rect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96596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23A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95728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Review user dataset structure and sample records.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60520"/>
            <a:ext cx="10332720" cy="914400"/>
          </a:xfrm>
          <a:prstGeom prst="roundRect">
            <a:avLst/>
          </a:prstGeom>
          <a:solidFill>
            <a:srgbClr val="E5EFF6"/>
          </a:solidFill>
          <a:ln>
            <a:solidFill>
              <a:srgbClr val="E5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370832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Basic data profiling helps users understand the datasets before interpreting results or building analytics.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Data and machine-learning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The saved model artifact is loaded by the application for inference.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1284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Dataset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37284"/>
                </a:solidFill>
                <a:latin typeface="Aptos"/>
              </a:defRPr>
            </a:pPr>
            <a:r>
              <a:t>Flights / Hotels / Users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606040"/>
            <a:ext cx="301752" cy="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62072" y="201168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21284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Preparation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615184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37284"/>
                </a:solidFill>
                <a:latin typeface="Aptos"/>
              </a:defRPr>
            </a:pPr>
            <a:r>
              <a:t>Load and validate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1" y="2606040"/>
            <a:ext cx="301752" cy="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21224" y="201168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221284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2615184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37284"/>
                </a:solidFill>
                <a:latin typeface="Aptos"/>
              </a:defRPr>
            </a:pPr>
            <a:r>
              <a:t>Train regression pipeline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87183" y="2606040"/>
            <a:ext cx="301753" cy="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80376" y="201168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221284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6" y="2615184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37284"/>
                </a:solidFill>
                <a:latin typeface="Aptos"/>
              </a:defRPr>
            </a:pPr>
            <a:r>
              <a:t>Save with Joblib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46336" y="2606040"/>
            <a:ext cx="301752" cy="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39528" y="2011680"/>
            <a:ext cx="1965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30968" y="221284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615184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37284"/>
                </a:solidFill>
                <a:latin typeface="Aptos"/>
              </a:defRPr>
            </a:pPr>
            <a:r>
              <a:t>Load model and predict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069080"/>
            <a:ext cx="10241280" cy="960120"/>
          </a:xfrm>
          <a:prstGeom prst="roundRect">
            <a:avLst/>
          </a:prstGeom>
          <a:solidFill>
            <a:srgbClr val="FFF5DE"/>
          </a:solidFill>
          <a:ln>
            <a:solidFill>
              <a:srgbClr val="F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279392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2223A"/>
                </a:solidFill>
                <a:latin typeface="Aptos"/>
              </a:defRPr>
            </a:pPr>
            <a:r>
              <a:t>No algorithm name or accuracy score is asserted here; use the project's saved metrics report for any measured evaluation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REST API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The Flask service exposes key functionality through HTTP endpoints.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10607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856232"/>
            <a:ext cx="960120" cy="384048"/>
          </a:xfrm>
          <a:prstGeom prst="roundRect">
            <a:avLst/>
          </a:prstGeom>
          <a:solidFill>
            <a:srgbClr val="DEF6F2"/>
          </a:solidFill>
          <a:ln>
            <a:solidFill>
              <a:srgbClr val="DE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56232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223A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837944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CAEA4"/>
                </a:solidFill>
                <a:latin typeface="Aptos"/>
              </a:defRPr>
            </a:pPr>
            <a: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37944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API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15768"/>
            <a:ext cx="10607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880360"/>
            <a:ext cx="960120" cy="384048"/>
          </a:xfrm>
          <a:prstGeom prst="roundRect">
            <a:avLst/>
          </a:prstGeom>
          <a:solidFill>
            <a:srgbClr val="DEF6F2"/>
          </a:solidFill>
          <a:ln>
            <a:solidFill>
              <a:srgbClr val="DE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223A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8620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CAEA4"/>
                </a:solidFill>
                <a:latin typeface="Aptos"/>
              </a:defRPr>
            </a:pPr>
            <a:r>
              <a:t>/health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862072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Health status and model availability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39896"/>
            <a:ext cx="10607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3904487"/>
            <a:ext cx="960120" cy="384048"/>
          </a:xfrm>
          <a:prstGeom prst="roundRect">
            <a:avLst/>
          </a:prstGeom>
          <a:solidFill>
            <a:srgbClr val="FFF5DE"/>
          </a:solidFill>
          <a:ln>
            <a:solidFill>
              <a:srgbClr val="F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04487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223A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8862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CAEA4"/>
                </a:solidFill>
                <a:latin typeface="Aptos"/>
              </a:defRPr>
            </a:pPr>
            <a:r>
              <a:t>/predict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88620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Submit travel details and receive a price estimate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Automated tests cover route availability and common invalid inputs, including missing fields, invalid travel date, time and distance.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Database and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MySQL stores operational history so records can be inspected beyond the current interaction.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4864" cy="144475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Prediction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50008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Stores submitted prediction details and the resulting estimate when database access succeeds.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4864" cy="144475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Recommendation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50008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Stores hotel recommendation activity when database access succeeds.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840480"/>
            <a:ext cx="10058400" cy="960120"/>
          </a:xfrm>
          <a:prstGeom prst="roundRect">
            <a:avLst/>
          </a:prstGeom>
          <a:solidFill>
            <a:srgbClr val="E5EFF6"/>
          </a:solidFill>
          <a:ln>
            <a:solidFill>
              <a:srgbClr val="E5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069080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2223A"/>
                </a:solidFill>
                <a:latin typeface="Aptos"/>
              </a:defRPr>
            </a:pPr>
            <a:r>
              <a:t>SQL schema  +  SQLAlchemy data-access layer  +  local MySQL (e.g., XAMPP)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Database credentials should be supplied through environment configuration, not embedded in public code or slides.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Testing and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The API is checked for expected routes and common invalid-input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54864" cy="89611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39"/>
            <a:ext cx="4892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A"/>
                </a:solidFill>
                <a:latin typeface="Aptos"/>
              </a:defRPr>
            </a:pPr>
            <a:r>
              <a:t>Health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37284"/>
                </a:solidFill>
                <a:latin typeface="Aptos"/>
              </a:defRPr>
            </a:pPr>
            <a:r>
              <a:t>Confirms the API responds and reports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4864" cy="89611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39"/>
            <a:ext cx="4892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A"/>
                </a:solidFill>
                <a:latin typeface="Aptos"/>
              </a:defRPr>
            </a:pPr>
            <a:r>
              <a:t>Home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2140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37284"/>
                </a:solidFill>
                <a:latin typeface="Aptos"/>
              </a:defRPr>
            </a:pPr>
            <a:r>
              <a:t>Checks the API information route.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4320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743200"/>
            <a:ext cx="54864" cy="89611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80360"/>
            <a:ext cx="4892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A"/>
                </a:solidFill>
                <a:latin typeface="Aptos"/>
              </a:defRPr>
            </a:pPr>
            <a:r>
              <a:t>Missing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1012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37284"/>
                </a:solidFill>
                <a:latin typeface="Aptos"/>
              </a:defRPr>
            </a:pPr>
            <a:r>
              <a:t>Verifies incomplete prediction input is rejected.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74320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743200"/>
            <a:ext cx="54864" cy="89611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880360"/>
            <a:ext cx="4892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A"/>
                </a:solidFill>
                <a:latin typeface="Aptos"/>
              </a:defRPr>
            </a:pPr>
            <a:r>
              <a:t>Invalid distance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1012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37284"/>
                </a:solidFill>
                <a:latin typeface="Aptos"/>
              </a:defRPr>
            </a:pPr>
            <a:r>
              <a:t>Checks numeric input validation.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319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931920"/>
            <a:ext cx="54864" cy="89611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069080"/>
            <a:ext cx="4892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A"/>
                </a:solidFill>
                <a:latin typeface="Aptos"/>
              </a:defRPr>
            </a:pPr>
            <a:r>
              <a:t>Invalid travel 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49884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37284"/>
                </a:solidFill>
                <a:latin typeface="Aptos"/>
              </a:defRPr>
            </a:pPr>
            <a:r>
              <a:t>Checks date validation.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319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4864" cy="89611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69080"/>
            <a:ext cx="4892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A"/>
                </a:solidFill>
                <a:latin typeface="Aptos"/>
              </a:defRPr>
            </a:pPr>
            <a:r>
              <a:t>Invalid travel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49884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37284"/>
                </a:solidFill>
                <a:latin typeface="Aptos"/>
              </a:defRPr>
            </a:pPr>
            <a:r>
              <a:t>Checks time validation.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349240"/>
            <a:ext cx="10287000" cy="502920"/>
          </a:xfrm>
          <a:prstGeom prst="roundRect">
            <a:avLst/>
          </a:prstGeom>
          <a:solidFill>
            <a:srgbClr val="DEF6F2"/>
          </a:solidFill>
          <a:ln>
            <a:solidFill>
              <a:srgbClr val="DE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44068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2223A"/>
                </a:solidFill>
                <a:latin typeface="Aptos"/>
              </a:defRPr>
            </a:pPr>
            <a:r>
              <a:t>Recorded verification: all 6 API unit tests passed in the local test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Containerization with Docker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Docker packages the Flask API and runtime dependencies into a repeatable image.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4864" cy="162763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23A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0008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Create the voyage-analytics image from the Dockerfile.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830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783080"/>
            <a:ext cx="54864" cy="1627632"/>
          </a:xfrm>
          <a:prstGeom prst="rect">
            <a:avLst/>
          </a:prstGeom>
          <a:solidFill>
            <a:srgbClr val="5BA9E0"/>
          </a:solidFill>
          <a:ln>
            <a:solidFill>
              <a:srgbClr val="5B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92024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23A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50008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Start the API container and map a host port to port 5000.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7830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783080"/>
            <a:ext cx="54864" cy="1627632"/>
          </a:xfrm>
          <a:prstGeom prst="rect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92024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23A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50008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37284"/>
                </a:solidFill>
                <a:latin typeface="Aptos"/>
              </a:defRPr>
            </a:pPr>
            <a:r>
              <a:t>Use host.docker.internal when connecting to Windows-host MySQL.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60520"/>
            <a:ext cx="10241280" cy="822960"/>
          </a:xfrm>
          <a:prstGeom prst="roundRect">
            <a:avLst/>
          </a:prstGeom>
          <a:solidFill>
            <a:srgbClr val="1C3350"/>
          </a:solidFill>
          <a:ln>
            <a:solidFill>
              <a:srgbClr val="1C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37083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Build image  →  run container  →  call /health and /predict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The Streamlit interface and Flask API are separate components; the Docker image is for the API.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Orchestration with Kubernetes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Kubernetes manages multiple API replicas and provides a service endpoint.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2223A"/>
                </a:solidFill>
                <a:latin typeface="Aptos"/>
              </a:defRPr>
            </a:pPr>
            <a:r>
              <a:t>Kubernetes Service: voyage-api-service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337560" y="2194560"/>
            <a:ext cx="2743200" cy="54864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194560"/>
            <a:ext cx="2651760" cy="548640"/>
          </a:xfrm>
          <a:prstGeom prst="line">
            <a:avLst/>
          </a:prstGeom>
          <a:ln w="21590">
            <a:solidFill>
              <a:srgbClr val="1CA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20240" y="2743200"/>
            <a:ext cx="2834640" cy="1234440"/>
          </a:xfrm>
          <a:prstGeom prst="roundRect">
            <a:avLst/>
          </a:prstGeom>
          <a:solidFill>
            <a:srgbClr val="DEF6F2"/>
          </a:solidFill>
          <a:ln>
            <a:solidFill>
              <a:srgbClr val="DE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29718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2223A"/>
                </a:solidFill>
                <a:latin typeface="Aptos"/>
              </a:defRPr>
            </a:pPr>
            <a:r>
              <a:t>API Pod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4015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Flask API container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2743200"/>
            <a:ext cx="2834640" cy="1234440"/>
          </a:xfrm>
          <a:prstGeom prst="roundRect">
            <a:avLst/>
          </a:prstGeom>
          <a:solidFill>
            <a:srgbClr val="DEF6F2"/>
          </a:solidFill>
          <a:ln>
            <a:solidFill>
              <a:srgbClr val="DE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9718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2223A"/>
                </a:solidFill>
                <a:latin typeface="Aptos"/>
              </a:defRPr>
            </a:pPr>
            <a:r>
              <a:t>API Pod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4015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Flask API 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663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Verified locally: two replicas running and reachable through a port-forwarded service for health and prediction requests.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Project organization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The repository separates application code, data, model artifacts, deployment files and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287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3677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CAEA4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36776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app.py  •  streamlit_app.py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31720"/>
            <a:ext cx="10287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5973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5BA9E0"/>
                </a:solidFill>
                <a:latin typeface="Aptos"/>
              </a:defRPr>
            </a:pPr>
            <a:r>
              <a:t>Source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459736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src/data_access.py  •  src/train_flight_model.py  •  src/eda.py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54680"/>
            <a:ext cx="10287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28269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CAEA4"/>
                </a:solidFill>
                <a:latin typeface="Aptos"/>
              </a:defRPr>
            </a:pPr>
            <a:r>
              <a:t>Data &amp;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282696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data/  •  artifacts/  •  reports/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77639"/>
            <a:ext cx="10287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105655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5BA9E0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105655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Dockerfile  •  docker-compose.yml  •  k8s/deployment.yaml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00600"/>
            <a:ext cx="10287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2861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CAEA4"/>
                </a:solidFill>
                <a:latin typeface="Aptos"/>
              </a:defRPr>
            </a:pPr>
            <a:r>
              <a:t>Quality &amp;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928616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tests/  •  requirements.txt  •  .env.example  •  README.md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2223A"/>
                </a:solidFill>
                <a:latin typeface="Aptos"/>
              </a:defRPr>
            </a:pPr>
            <a:r>
              <a:t>Limitations and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658368" cy="5029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A responsible summary separates current capabilities from possible extensions.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37284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7284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0749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54864" cy="2313432"/>
          </a:xfrm>
          <a:prstGeom prst="rect">
            <a:avLst/>
          </a:prstGeom>
          <a:solidFill>
            <a:srgbClr val="F5B84B"/>
          </a:solidFill>
          <a:ln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A"/>
                </a:solidFill>
                <a:latin typeface="Aptos"/>
              </a:defRPr>
            </a:pPr>
            <a:r>
              <a:t>Current considerations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58568"/>
            <a:ext cx="4754880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• Estimates depend on available training data and model quality.</a:t>
            </a:r>
          </a:p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• Hotel options depend on supplied data and filtering rules.</a:t>
            </a:r>
          </a:p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• Database writes require a reachable MySQL service.</a:t>
            </a:r>
          </a:p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• Current deployment demonstrates a local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0749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54864" cy="2313432"/>
          </a:xfrm>
          <a:prstGeom prst="rect">
            <a:avLst/>
          </a:prstGeom>
          <a:solidFill>
            <a:srgbClr val="1CAEA4"/>
          </a:solidFill>
          <a:ln>
            <a:solidFill>
              <a:srgbClr val="1C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A"/>
                </a:solidFill>
                <a:latin typeface="Aptos"/>
              </a:defRPr>
            </a:pPr>
            <a:r>
              <a:t>Possible 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54880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• Expand and refresh travel datasets.</a:t>
            </a:r>
          </a:p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• Add clearer model evaluation and uncertainty information.</a:t>
            </a:r>
          </a:p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• Improve authentication, logging and production configuration.</a:t>
            </a:r>
          </a:p>
          <a:p>
            <a:pPr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• Deploy to managed cloud infrastructure with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37284"/>
                </a:solidFill>
                <a:latin typeface="Aptos"/>
              </a:defRPr>
            </a:pPr>
            <a:r>
              <a:t>These are proposed enhancements, not features claimed as already implemented.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CAEA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One project. Multiple connected capabilities.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8686800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DEE8F2"/>
                </a:solidFill>
                <a:latin typeface="Aptos"/>
              </a:defRPr>
            </a:pPr>
            <a:r>
              <a:t>•  Flight-price estimation through a trained regression pipeline.</a:t>
            </a:r>
          </a:p>
          <a:p>
            <a:pPr>
              <a:spcAft>
                <a:spcPts val="500"/>
              </a:spcAft>
              <a:defRPr sz="1500" b="0">
                <a:solidFill>
                  <a:srgbClr val="DEE8F2"/>
                </a:solidFill>
                <a:latin typeface="Aptos"/>
              </a:defRPr>
            </a:pPr>
            <a:r>
              <a:t>•  Budget-aware hotel filtering and dataset exploration.</a:t>
            </a:r>
          </a:p>
          <a:p>
            <a:pPr>
              <a:spcAft>
                <a:spcPts val="500"/>
              </a:spcAft>
              <a:defRPr sz="1500" b="0">
                <a:solidFill>
                  <a:srgbClr val="DEE8F2"/>
                </a:solidFill>
                <a:latin typeface="Aptos"/>
              </a:defRPr>
            </a:pPr>
            <a:r>
              <a:t>•  Flask API, MySQL persistence, Docker packaging and Kubernetes replicas.</a:t>
            </a:r>
          </a:p>
          <a:p>
            <a:pPr>
              <a:spcAft>
                <a:spcPts val="500"/>
              </a:spcAft>
              <a:defRPr sz="1500" b="0">
                <a:solidFill>
                  <a:srgbClr val="DEE8F2"/>
                </a:solidFill>
                <a:latin typeface="Aptos"/>
              </a:defRPr>
            </a:pPr>
            <a:r>
              <a:t>•  Automated API tests for key routes and input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926080"/>
            <a:ext cx="2057400" cy="1508760"/>
          </a:xfrm>
          <a:prstGeom prst="roundRect">
            <a:avLst/>
          </a:prstGeom>
          <a:solidFill>
            <a:srgbClr val="1C3350"/>
          </a:solidFill>
          <a:ln>
            <a:solidFill>
              <a:srgbClr val="1C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53728" y="324612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THANK</a:t>
            </a:r>
          </a:p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BECFE0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C1CFDD"/>
                </a:solidFill>
                <a:latin typeface="Aptos"/>
              </a:defRPr>
            </a:pPr>
            <a:r>
              <a:t>VOYAGE ANALYTICS  |  TRAVEL ANALYTICS &amp; RECOMMENDATION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C1CFDD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